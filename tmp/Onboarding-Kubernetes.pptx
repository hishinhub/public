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PT Serif"/>
      <p:regular r:id="rId15"/>
    </p:embeddedFont>
    <p:embeddedFont>
      <p:font typeface="PT Serif"/>
      <p:regular r:id="rId16"/>
    </p:embeddedFont>
    <p:embeddedFont>
      <p:font typeface="PT Serif"/>
      <p:regular r:id="rId17"/>
    </p:embeddedFont>
    <p:embeddedFont>
      <p:font typeface="PT Serif"/>
      <p:regular r:id="rId18"/>
    </p:embeddedFont>
    <p:embeddedFont>
      <p:font typeface="DM Sans"/>
      <p:regular r:id="rId19"/>
    </p:embeddedFont>
    <p:embeddedFont>
      <p:font typeface="DM Sans"/>
      <p:regular r:id="rId20"/>
    </p:embeddedFont>
    <p:embeddedFont>
      <p:font typeface="DM Sans"/>
      <p:regular r:id="rId21"/>
    </p:embeddedFont>
    <p:embeddedFont>
      <p:font typeface="DM Sans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5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slideLayout" Target="../slideLayouts/slideLayout8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68930"/>
            <a:ext cx="6307931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Onboarding Kubernetes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793790" y="3953351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guide pratique pour comprendre et maîtriser Docker et Kubernetes — de la containerisation à votre premier déploiement Kustomize.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4934307"/>
            <a:ext cx="3023711" cy="426244"/>
          </a:xfrm>
          <a:prstGeom prst="roundRect">
            <a:avLst>
              <a:gd name="adj" fmla="val 6386"/>
            </a:avLst>
          </a:prstGeom>
          <a:solidFill>
            <a:srgbClr val="FFDECC"/>
          </a:solidFill>
          <a:ln/>
        </p:spPr>
      </p:sp>
      <p:sp>
        <p:nvSpPr>
          <p:cNvPr id="6" name="Text 3"/>
          <p:cNvSpPr/>
          <p:nvPr/>
        </p:nvSpPr>
        <p:spPr>
          <a:xfrm>
            <a:off x="929878" y="5002292"/>
            <a:ext cx="275153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DEVOPS · KUBERNETES · DOCKER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3879" y="1466731"/>
            <a:ext cx="4869775" cy="519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1. Docker en un coup d'œil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53879" y="2261830"/>
            <a:ext cx="2093952" cy="259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Qu'est-ce que Docker ?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53879" y="2631877"/>
            <a:ext cx="3825121" cy="859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Docker est un outil de containerisation qui permet d'empaqueter une application avec toutes ses dépendances dans une unité portable et reproductible — le </a:t>
            </a:r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container</a:t>
            </a:r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53879" y="3601403"/>
            <a:ext cx="2260521" cy="259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Pourquoi containeriser 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53879" y="3971449"/>
            <a:ext cx="3825121" cy="1365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Reproductibilité : même comportement en dev, staging et prod</a:t>
            </a:r>
            <a:endParaRPr lang="en-US" sz="1200" dirty="0"/>
          </a:p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Isolation : chaque app tourne dans son propre environnement</a:t>
            </a:r>
            <a:endParaRPr lang="en-US" sz="1200" dirty="0"/>
          </a:p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Portabilité : fonctionne sur n'importe quelle machine avec Docker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772620" y="2261830"/>
            <a:ext cx="2077045" cy="259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Le Dockerfile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772620" y="2631877"/>
            <a:ext cx="3825121" cy="859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C'est la </a:t>
            </a:r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recette</a:t>
            </a:r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 construction d'une image : instructions séquentielles pour copier du code, installer des dépendances et définir le point d'entrée.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772620" y="3601403"/>
            <a:ext cx="2447211" cy="259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Exemples d'usage concrets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53879" y="5500092"/>
            <a:ext cx="2605087" cy="576143"/>
          </a:xfrm>
          <a:prstGeom prst="roundRect">
            <a:avLst>
              <a:gd name="adj" fmla="val 4120"/>
            </a:avLst>
          </a:prstGeom>
          <a:solidFill>
            <a:srgbClr val="F2EEEE"/>
          </a:solidFill>
          <a:ln/>
        </p:spPr>
      </p:sp>
      <p:sp>
        <p:nvSpPr>
          <p:cNvPr id="12" name="Text 9"/>
          <p:cNvSpPr/>
          <p:nvPr/>
        </p:nvSpPr>
        <p:spPr>
          <a:xfrm>
            <a:off x="712113" y="5658326"/>
            <a:ext cx="2077045" cy="259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SQLServer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269337" y="5500092"/>
            <a:ext cx="2605207" cy="576143"/>
          </a:xfrm>
          <a:prstGeom prst="roundRect">
            <a:avLst>
              <a:gd name="adj" fmla="val 4120"/>
            </a:avLst>
          </a:prstGeom>
          <a:solidFill>
            <a:srgbClr val="F2EEEE"/>
          </a:solidFill>
          <a:ln/>
        </p:spPr>
      </p:sp>
      <p:sp>
        <p:nvSpPr>
          <p:cNvPr id="14" name="Text 11"/>
          <p:cNvSpPr/>
          <p:nvPr/>
        </p:nvSpPr>
        <p:spPr>
          <a:xfrm>
            <a:off x="3427571" y="5658326"/>
            <a:ext cx="2077045" cy="259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Keycloak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984915" y="5500092"/>
            <a:ext cx="2605207" cy="576143"/>
          </a:xfrm>
          <a:prstGeom prst="roundRect">
            <a:avLst>
              <a:gd name="adj" fmla="val 4120"/>
            </a:avLst>
          </a:prstGeom>
          <a:solidFill>
            <a:srgbClr val="F2EEEE"/>
          </a:solidFill>
          <a:ln/>
        </p:spPr>
      </p:sp>
      <p:sp>
        <p:nvSpPr>
          <p:cNvPr id="16" name="Text 13"/>
          <p:cNvSpPr/>
          <p:nvPr/>
        </p:nvSpPr>
        <p:spPr>
          <a:xfrm>
            <a:off x="6143149" y="5658326"/>
            <a:ext cx="2077045" cy="259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Grafana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53879" y="6186607"/>
            <a:ext cx="8036243" cy="576143"/>
          </a:xfrm>
          <a:prstGeom prst="roundRect">
            <a:avLst>
              <a:gd name="adj" fmla="val 4120"/>
            </a:avLst>
          </a:prstGeom>
          <a:solidFill>
            <a:srgbClr val="F2EEEE"/>
          </a:solidFill>
          <a:ln/>
        </p:spPr>
      </p:sp>
      <p:sp>
        <p:nvSpPr>
          <p:cNvPr id="18" name="Text 15"/>
          <p:cNvSpPr/>
          <p:nvPr/>
        </p:nvSpPr>
        <p:spPr>
          <a:xfrm>
            <a:off x="712113" y="6344841"/>
            <a:ext cx="2077045" cy="259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Aspire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6991" y="751642"/>
            <a:ext cx="7305318" cy="644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2. Concepts clés de l'écosystème</a:t>
            </a:r>
            <a:endParaRPr lang="en-US" sz="4050" dirty="0"/>
          </a:p>
        </p:txBody>
      </p:sp>
      <p:sp>
        <p:nvSpPr>
          <p:cNvPr id="3" name="Shape 1"/>
          <p:cNvSpPr/>
          <p:nvPr/>
        </p:nvSpPr>
        <p:spPr>
          <a:xfrm>
            <a:off x="686991" y="1841659"/>
            <a:ext cx="866299" cy="367189"/>
          </a:xfrm>
          <a:prstGeom prst="roundRect">
            <a:avLst>
              <a:gd name="adj" fmla="val 6415"/>
            </a:avLst>
          </a:prstGeom>
          <a:noFill/>
          <a:ln w="7620">
            <a:solidFill>
              <a:srgbClr val="E04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12363" y="1908096"/>
            <a:ext cx="615553" cy="234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DOCKER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6991" y="2399943"/>
            <a:ext cx="6388775" cy="151578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4131" y="2399943"/>
            <a:ext cx="91440" cy="1515785"/>
          </a:xfrm>
          <a:prstGeom prst="roundRect">
            <a:avLst>
              <a:gd name="adj" fmla="val 32200"/>
            </a:avLst>
          </a:prstGeom>
          <a:solidFill>
            <a:srgbClr val="E04F00"/>
          </a:solidFill>
          <a:ln/>
        </p:spPr>
      </p:sp>
      <p:sp>
        <p:nvSpPr>
          <p:cNvPr id="7" name="Text 5"/>
          <p:cNvSpPr/>
          <p:nvPr/>
        </p:nvSpPr>
        <p:spPr>
          <a:xfrm>
            <a:off x="974646" y="2619018"/>
            <a:ext cx="2576274" cy="322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Image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74646" y="3110865"/>
            <a:ext cx="5882045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Template </a:t>
            </a:r>
            <a:pPr algn="l" indent="0" marL="0">
              <a:lnSpc>
                <a:spcPts val="2300"/>
              </a:lnSpc>
              <a:buNone/>
            </a:pPr>
            <a:r>
              <a:rPr lang="en-US" sz="15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immuable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contenant l'application et ses dépendances. Construite à partir d'un Dockerfile.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6991" y="4085511"/>
            <a:ext cx="6388775" cy="151578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4131" y="4085511"/>
            <a:ext cx="91440" cy="1515785"/>
          </a:xfrm>
          <a:prstGeom prst="roundRect">
            <a:avLst>
              <a:gd name="adj" fmla="val 32200"/>
            </a:avLst>
          </a:prstGeom>
          <a:solidFill>
            <a:srgbClr val="E04F00"/>
          </a:solidFill>
          <a:ln/>
        </p:spPr>
      </p:sp>
      <p:sp>
        <p:nvSpPr>
          <p:cNvPr id="11" name="Text 9"/>
          <p:cNvSpPr/>
          <p:nvPr/>
        </p:nvSpPr>
        <p:spPr>
          <a:xfrm>
            <a:off x="974646" y="4304586"/>
            <a:ext cx="2576274" cy="322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Container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74646" y="4796433"/>
            <a:ext cx="5882045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Instance </a:t>
            </a:r>
            <a:pPr algn="l" indent="0" marL="0">
              <a:lnSpc>
                <a:spcPts val="2300"/>
              </a:lnSpc>
              <a:buNone/>
            </a:pPr>
            <a:r>
              <a:rPr lang="en-US" sz="15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cours d'exécution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d'une image. Léger, isolé, éphémère par nature.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6991" y="5771078"/>
            <a:ext cx="6388775" cy="151578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4131" y="5771078"/>
            <a:ext cx="91440" cy="1515785"/>
          </a:xfrm>
          <a:prstGeom prst="roundRect">
            <a:avLst>
              <a:gd name="adj" fmla="val 32200"/>
            </a:avLst>
          </a:prstGeom>
          <a:solidFill>
            <a:srgbClr val="E04F00"/>
          </a:solidFill>
          <a:ln/>
        </p:spPr>
      </p:sp>
      <p:sp>
        <p:nvSpPr>
          <p:cNvPr id="15" name="Text 13"/>
          <p:cNvSpPr/>
          <p:nvPr/>
        </p:nvSpPr>
        <p:spPr>
          <a:xfrm>
            <a:off x="974646" y="5990153"/>
            <a:ext cx="2576274" cy="322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Volume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74646" y="6482001"/>
            <a:ext cx="5882045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Mécanisme de </a:t>
            </a:r>
            <a:pPr algn="l" indent="0" marL="0">
              <a:lnSpc>
                <a:spcPts val="2300"/>
              </a:lnSpc>
              <a:buNone/>
            </a:pPr>
            <a:r>
              <a:rPr lang="en-US" sz="15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persistance des données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en dehors du cycle de vie du container.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562255" y="1841659"/>
            <a:ext cx="1171337" cy="351949"/>
          </a:xfrm>
          <a:prstGeom prst="roundRect">
            <a:avLst>
              <a:gd name="adj" fmla="val 6693"/>
            </a:avLst>
          </a:prstGeom>
          <a:solidFill>
            <a:srgbClr val="FFDECC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008" y="1900476"/>
            <a:ext cx="935831" cy="234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KUBERNETES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62255" y="2384703"/>
            <a:ext cx="3109436" cy="2101572"/>
          </a:xfrm>
          <a:prstGeom prst="roundRect">
            <a:avLst>
              <a:gd name="adj" fmla="val 5221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39395" y="2384703"/>
            <a:ext cx="91440" cy="2101572"/>
          </a:xfrm>
          <a:prstGeom prst="roundRect">
            <a:avLst>
              <a:gd name="adj" fmla="val 32200"/>
            </a:avLst>
          </a:prstGeom>
          <a:solidFill>
            <a:srgbClr val="E04F00"/>
          </a:solidFill>
          <a:ln/>
        </p:spPr>
      </p:sp>
      <p:sp>
        <p:nvSpPr>
          <p:cNvPr id="21" name="Text 19"/>
          <p:cNvSpPr/>
          <p:nvPr/>
        </p:nvSpPr>
        <p:spPr>
          <a:xfrm>
            <a:off x="7849910" y="2603778"/>
            <a:ext cx="2576274" cy="322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Pod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849910" y="3095625"/>
            <a:ext cx="2602706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Plus petite unité déployable. Encapsule un ou plusieurs containers partageant le même réseau.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0841474" y="2384703"/>
            <a:ext cx="3109555" cy="2101572"/>
          </a:xfrm>
          <a:prstGeom prst="roundRect">
            <a:avLst>
              <a:gd name="adj" fmla="val 5221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18614" y="2384703"/>
            <a:ext cx="91440" cy="2101572"/>
          </a:xfrm>
          <a:prstGeom prst="roundRect">
            <a:avLst>
              <a:gd name="adj" fmla="val 32200"/>
            </a:avLst>
          </a:prstGeom>
          <a:solidFill>
            <a:srgbClr val="E04F00"/>
          </a:solidFill>
          <a:ln/>
        </p:spPr>
      </p:sp>
      <p:sp>
        <p:nvSpPr>
          <p:cNvPr id="25" name="Text 23"/>
          <p:cNvSpPr/>
          <p:nvPr/>
        </p:nvSpPr>
        <p:spPr>
          <a:xfrm>
            <a:off x="11129129" y="2603778"/>
            <a:ext cx="2576274" cy="322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Node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1129129" y="3095625"/>
            <a:ext cx="2602825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Machine physique ou virtuelle qui </a:t>
            </a:r>
            <a:pPr algn="l" indent="0" marL="0">
              <a:lnSpc>
                <a:spcPts val="2300"/>
              </a:lnSpc>
              <a:buNone/>
            </a:pPr>
            <a:r>
              <a:rPr lang="en-US" sz="15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exécute les pods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sous la supervision du cluster.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562255" y="4656058"/>
            <a:ext cx="3109436" cy="1808678"/>
          </a:xfrm>
          <a:prstGeom prst="roundRect">
            <a:avLst>
              <a:gd name="adj" fmla="val 6067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39395" y="4656058"/>
            <a:ext cx="91440" cy="1808678"/>
          </a:xfrm>
          <a:prstGeom prst="roundRect">
            <a:avLst>
              <a:gd name="adj" fmla="val 32200"/>
            </a:avLst>
          </a:prstGeom>
          <a:solidFill>
            <a:srgbClr val="E04F00"/>
          </a:solidFill>
          <a:ln/>
        </p:spPr>
      </p:sp>
      <p:sp>
        <p:nvSpPr>
          <p:cNvPr id="29" name="Text 27"/>
          <p:cNvSpPr/>
          <p:nvPr/>
        </p:nvSpPr>
        <p:spPr>
          <a:xfrm>
            <a:off x="7849910" y="4875133"/>
            <a:ext cx="2576274" cy="322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Namespace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849910" y="5366980"/>
            <a:ext cx="2602706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Isolation logique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des ressources. Utile pour séparer dev, staging et prod.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0841474" y="4656058"/>
            <a:ext cx="3109555" cy="1808678"/>
          </a:xfrm>
          <a:prstGeom prst="roundRect">
            <a:avLst>
              <a:gd name="adj" fmla="val 6067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818614" y="4656058"/>
            <a:ext cx="91440" cy="1808678"/>
          </a:xfrm>
          <a:prstGeom prst="roundRect">
            <a:avLst>
              <a:gd name="adj" fmla="val 32200"/>
            </a:avLst>
          </a:prstGeom>
          <a:solidFill>
            <a:srgbClr val="E04F00"/>
          </a:solidFill>
          <a:ln/>
        </p:spPr>
      </p:sp>
      <p:sp>
        <p:nvSpPr>
          <p:cNvPr id="33" name="Text 31"/>
          <p:cNvSpPr/>
          <p:nvPr/>
        </p:nvSpPr>
        <p:spPr>
          <a:xfrm>
            <a:off x="11129129" y="4875133"/>
            <a:ext cx="2576274" cy="322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Cluster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11129129" y="5366980"/>
            <a:ext cx="2602825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Ensemble de nodes orchestrés par Kubernetes, géré via le control plane.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55971" y="1258491"/>
            <a:ext cx="6073973" cy="500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3. Kubernetes — Les configs YAML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2055971" y="2014657"/>
            <a:ext cx="2192536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Structure d'un manifeste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2055971" y="2367082"/>
            <a:ext cx="5073253" cy="407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Tout objet Kubernetes est décrit en YAML avec quatre champs fondamentaux 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055971" y="2890004"/>
            <a:ext cx="609719" cy="914638"/>
          </a:xfrm>
          <a:prstGeom prst="roundRect">
            <a:avLst>
              <a:gd name="adj" fmla="val 360029"/>
            </a:avLst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2246471" y="3204448"/>
            <a:ext cx="2286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68084" y="3042404"/>
            <a:ext cx="2000726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apiVersion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2768084" y="3394829"/>
            <a:ext cx="4361140" cy="203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Version de l'API Kubernetes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55971" y="3907036"/>
            <a:ext cx="609719" cy="914638"/>
          </a:xfrm>
          <a:prstGeom prst="roundRect">
            <a:avLst>
              <a:gd name="adj" fmla="val 360029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2246471" y="4221480"/>
            <a:ext cx="2286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768084" y="4059436"/>
            <a:ext cx="2000726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kind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2768084" y="4411861"/>
            <a:ext cx="4361140" cy="203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Type de ressource (Deployment, Service…)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055971" y="4924068"/>
            <a:ext cx="609719" cy="914638"/>
          </a:xfrm>
          <a:prstGeom prst="roundRect">
            <a:avLst>
              <a:gd name="adj" fmla="val 360029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2246471" y="5238512"/>
            <a:ext cx="2286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768084" y="5076468"/>
            <a:ext cx="2000726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metadata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2768084" y="5428893"/>
            <a:ext cx="4361140" cy="203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Nom, labels et namespace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055971" y="5941100"/>
            <a:ext cx="609719" cy="914638"/>
          </a:xfrm>
          <a:prstGeom prst="roundRect">
            <a:avLst>
              <a:gd name="adj" fmla="val 360029"/>
            </a:avLst>
          </a:prstGeom>
          <a:solidFill>
            <a:srgbClr val="F2EEEE"/>
          </a:solidFill>
          <a:ln/>
        </p:spPr>
      </p:sp>
      <p:sp>
        <p:nvSpPr>
          <p:cNvPr id="18" name="Text 16"/>
          <p:cNvSpPr/>
          <p:nvPr/>
        </p:nvSpPr>
        <p:spPr>
          <a:xfrm>
            <a:off x="2246471" y="6255544"/>
            <a:ext cx="2286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768084" y="6093500"/>
            <a:ext cx="2000726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spec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2768084" y="6445925"/>
            <a:ext cx="4361140" cy="203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État désiré de la ressource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508796" y="2014657"/>
            <a:ext cx="2061091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Ressources essentielles</a:t>
            </a:r>
            <a:endParaRPr lang="en-US" sz="155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08796" y="2406610"/>
            <a:ext cx="228600" cy="2286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839789" y="2413278"/>
            <a:ext cx="2000726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Deployment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7839789" y="2765703"/>
            <a:ext cx="4742259" cy="203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Gère le cycle de vie des pods : replicas, rolling updates, rollback.</a:t>
            </a:r>
            <a:endParaRPr lang="en-US" sz="120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08796" y="3200995"/>
            <a:ext cx="228600" cy="2286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839789" y="3207663"/>
            <a:ext cx="2000726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Service</a:t>
            </a:r>
            <a:endParaRPr lang="en-US" sz="1550" dirty="0"/>
          </a:p>
        </p:txBody>
      </p:sp>
      <p:sp>
        <p:nvSpPr>
          <p:cNvPr id="27" name="Text 23"/>
          <p:cNvSpPr/>
          <p:nvPr/>
        </p:nvSpPr>
        <p:spPr>
          <a:xfrm>
            <a:off x="7839789" y="3560088"/>
            <a:ext cx="4742259" cy="203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Expose les pods : </a:t>
            </a:r>
            <a:pPr algn="l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ClusterIP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NodePort ou LoadBalancer.</a:t>
            </a:r>
            <a:endParaRPr lang="en-US" sz="120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08796" y="3995380"/>
            <a:ext cx="228600" cy="22860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7839789" y="4002048"/>
            <a:ext cx="2000726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ConfigMap</a:t>
            </a:r>
            <a:endParaRPr lang="en-US" sz="1550" dirty="0"/>
          </a:p>
        </p:txBody>
      </p:sp>
      <p:sp>
        <p:nvSpPr>
          <p:cNvPr id="30" name="Text 25"/>
          <p:cNvSpPr/>
          <p:nvPr/>
        </p:nvSpPr>
        <p:spPr>
          <a:xfrm>
            <a:off x="7839789" y="4354473"/>
            <a:ext cx="4742259" cy="203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Injecte de la configuration externe sans rebuilder l'image.</a:t>
            </a:r>
            <a:endParaRPr lang="en-US" sz="12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08796" y="4789765"/>
            <a:ext cx="228600" cy="22860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839789" y="4796433"/>
            <a:ext cx="2000726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Ingress</a:t>
            </a:r>
            <a:endParaRPr lang="en-US" sz="1550" dirty="0"/>
          </a:p>
        </p:txBody>
      </p:sp>
      <p:sp>
        <p:nvSpPr>
          <p:cNvPr id="33" name="Text 27"/>
          <p:cNvSpPr/>
          <p:nvPr/>
        </p:nvSpPr>
        <p:spPr>
          <a:xfrm>
            <a:off x="7839789" y="5148858"/>
            <a:ext cx="4742259" cy="203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Routage HTTP/HTTPS vers les services depuis l'extérieur du cluster.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7508796" y="5467945"/>
            <a:ext cx="5073253" cy="716518"/>
          </a:xfrm>
          <a:prstGeom prst="roundRect">
            <a:avLst>
              <a:gd name="adj" fmla="val 3191"/>
            </a:avLst>
          </a:prstGeom>
          <a:solidFill>
            <a:srgbClr val="FFCDB3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61196" y="5677495"/>
            <a:ext cx="190500" cy="15240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8004096" y="5608439"/>
            <a:ext cx="4425553" cy="407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Kustomize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permet de gérer des variantes d'environnement (dev, prod) sans dupliquer les manifestes.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656046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4. Déployer Nginx from scratch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6280190" y="448472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 construit un déploiement Nginx complet en utilisant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Kustomize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avec une structure base / overlays pour gérer plusieurs environnements proprement.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3548" y="783550"/>
            <a:ext cx="5660350" cy="623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Structure du projet Nginx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63548" y="1803916"/>
            <a:ext cx="2492454" cy="311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Arborescence cible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763548" y="2294215"/>
            <a:ext cx="6319957" cy="3449479"/>
          </a:xfrm>
          <a:prstGeom prst="roundRect">
            <a:avLst>
              <a:gd name="adj" fmla="val 826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754142" y="2294215"/>
            <a:ext cx="6338768" cy="3449479"/>
          </a:xfrm>
          <a:prstGeom prst="roundRect">
            <a:avLst>
              <a:gd name="adj" fmla="val 826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991433" y="2484001"/>
            <a:ext cx="5864185" cy="3069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nginx-basic/</a:t>
            </a:r>
            <a:endParaRPr lang="en-US" sz="1450" dirty="0"/>
          </a:p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base/</a:t>
            </a:r>
            <a:endParaRPr lang="en-US" sz="1450" dirty="0"/>
          </a:p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configmap.yaml</a:t>
            </a:r>
            <a:endParaRPr lang="en-US" sz="1450" dirty="0"/>
          </a:p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deployment.yaml</a:t>
            </a:r>
            <a:endParaRPr lang="en-US" sz="1450" dirty="0"/>
          </a:p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kustomization.yaml</a:t>
            </a:r>
            <a:endParaRPr lang="en-US" sz="1450" dirty="0"/>
          </a:p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service.yaml</a:t>
            </a:r>
            <a:endParaRPr lang="en-US" sz="1450" dirty="0"/>
          </a:p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overlays/</a:t>
            </a:r>
            <a:endParaRPr lang="en-US" sz="1450" dirty="0"/>
          </a:p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dev/</a:t>
            </a:r>
            <a:endParaRPr lang="en-US" sz="1450" dirty="0"/>
          </a:p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└── kustomization.yaml</a:t>
            </a:r>
            <a:endParaRPr lang="en-US" sz="1450" dirty="0"/>
          </a:p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integration/</a:t>
            </a:r>
            <a:endParaRPr lang="en-US" sz="1450" dirty="0"/>
          </a:p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└── kustomization.yaml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554278" y="1803916"/>
            <a:ext cx="2509718" cy="311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Rôle de chaque couche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554278" y="2274332"/>
            <a:ext cx="6319957" cy="558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Cette séparation garantit une </a:t>
            </a:r>
            <a:pPr algn="l" indent="0" marL="0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configuration DRY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(Don't Repeat Yourself) et facilite la maintenance à long terme.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63548" y="6101358"/>
            <a:ext cx="13103185" cy="1344573"/>
          </a:xfrm>
          <a:prstGeom prst="roundRect">
            <a:avLst>
              <a:gd name="adj" fmla="val 2119"/>
            </a:avLst>
          </a:prstGeom>
          <a:solidFill>
            <a:srgbClr val="F2EEEE"/>
          </a:solidFill>
          <a:ln/>
        </p:spPr>
      </p:sp>
      <p:sp>
        <p:nvSpPr>
          <p:cNvPr id="10" name="Shape 8"/>
          <p:cNvSpPr/>
          <p:nvPr/>
        </p:nvSpPr>
        <p:spPr>
          <a:xfrm>
            <a:off x="763548" y="6101358"/>
            <a:ext cx="6551533" cy="1344573"/>
          </a:xfrm>
          <a:prstGeom prst="roundRect">
            <a:avLst>
              <a:gd name="adj" fmla="val 2119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953333" y="6291143"/>
            <a:ext cx="2492454" cy="311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base/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53333" y="6697980"/>
            <a:ext cx="6171962" cy="558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Manifestes communs à tous les environnements. Source de vérité partagée.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315081" y="6101358"/>
            <a:ext cx="6551652" cy="1344573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081" y="6101358"/>
            <a:ext cx="22860" cy="1344573"/>
          </a:xfrm>
          <a:prstGeom prst="roundRect">
            <a:avLst>
              <a:gd name="adj" fmla="val 124608"/>
            </a:avLst>
          </a:prstGeom>
          <a:solidFill>
            <a:srgbClr val="D8D4D4"/>
          </a:solidFill>
          <a:ln/>
        </p:spPr>
      </p:sp>
      <p:sp>
        <p:nvSpPr>
          <p:cNvPr id="15" name="Text 13"/>
          <p:cNvSpPr/>
          <p:nvPr/>
        </p:nvSpPr>
        <p:spPr>
          <a:xfrm>
            <a:off x="7504867" y="6291143"/>
            <a:ext cx="2492454" cy="311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overlays/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7504867" y="6697980"/>
            <a:ext cx="6172081" cy="558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Surcharges spécifiques à chaque env (dev, integration). Aucune duplication.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29264" y="526733"/>
            <a:ext cx="4687491" cy="531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Étapes de mise en œuvre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4433" y="1289090"/>
            <a:ext cx="6561534" cy="3894296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99020" y="2240920"/>
            <a:ext cx="558578" cy="55857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01361" y="4272227"/>
            <a:ext cx="1631049" cy="32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Déployer</a:t>
            </a:r>
            <a:endParaRPr lang="en-US" sz="20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54098" y="2241968"/>
            <a:ext cx="558579" cy="558579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545791" y="4107272"/>
            <a:ext cx="1631050" cy="659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Créer overlays</a:t>
            </a:r>
            <a:endParaRPr lang="en-US" sz="205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98528" y="2241968"/>
            <a:ext cx="558579" cy="558579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456707" y="4107272"/>
            <a:ext cx="1631050" cy="659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Définir la base</a:t>
            </a:r>
            <a:endParaRPr lang="en-US" sz="2050" dirty="0"/>
          </a:p>
        </p:txBody>
      </p:sp>
      <p:sp>
        <p:nvSpPr>
          <p:cNvPr id="10" name="Text 4"/>
          <p:cNvSpPr/>
          <p:nvPr/>
        </p:nvSpPr>
        <p:spPr>
          <a:xfrm>
            <a:off x="1729264" y="5428893"/>
            <a:ext cx="2125028" cy="265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Étape 1 — base/</a:t>
            </a:r>
            <a:endParaRPr lang="en-US" sz="1650" dirty="0"/>
          </a:p>
        </p:txBody>
      </p:sp>
      <p:sp>
        <p:nvSpPr>
          <p:cNvPr id="11" name="Text 5"/>
          <p:cNvSpPr/>
          <p:nvPr/>
        </p:nvSpPr>
        <p:spPr>
          <a:xfrm>
            <a:off x="1729264" y="5810012"/>
            <a:ext cx="5388412" cy="1230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deployment.yaml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: déploie un pod Nginx avec le bon nombre de replicas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service.yaml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: expose Nginx en interne via ClusterIP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configmap.yaml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: configuration Nginx personnalisée (nginx.conf)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kustomization.yaml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: référence toutes les ressources de la base</a:t>
            </a:r>
            <a:endParaRPr lang="en-US" sz="1250" dirty="0"/>
          </a:p>
        </p:txBody>
      </p:sp>
      <p:sp>
        <p:nvSpPr>
          <p:cNvPr id="12" name="Text 6"/>
          <p:cNvSpPr/>
          <p:nvPr/>
        </p:nvSpPr>
        <p:spPr>
          <a:xfrm>
            <a:off x="7520345" y="5428893"/>
            <a:ext cx="2125028" cy="265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Étape 2 — overlays/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7520345" y="5810012"/>
            <a:ext cx="5388412" cy="70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dev/kustomization.yaml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: surcharges pour le dev (replicas réduits, logs verbeux)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integration/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: overlay prêt pour l'env d'intégration continue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7520345" y="6631662"/>
            <a:ext cx="2125028" cy="265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Étape 3 — Déployer</a:t>
            </a:r>
            <a:endParaRPr lang="en-US" sz="1650" dirty="0"/>
          </a:p>
        </p:txBody>
      </p:sp>
      <p:sp>
        <p:nvSpPr>
          <p:cNvPr id="15" name="Shape 9"/>
          <p:cNvSpPr/>
          <p:nvPr/>
        </p:nvSpPr>
        <p:spPr>
          <a:xfrm>
            <a:off x="7520345" y="7027307"/>
            <a:ext cx="5388412" cy="545544"/>
          </a:xfrm>
          <a:prstGeom prst="roundRect">
            <a:avLst>
              <a:gd name="adj" fmla="val 4452"/>
            </a:avLst>
          </a:prstGeom>
          <a:solidFill>
            <a:srgbClr val="F2F2F2"/>
          </a:solidFill>
          <a:ln/>
        </p:spPr>
      </p:sp>
      <p:sp>
        <p:nvSpPr>
          <p:cNvPr id="16" name="Shape 10"/>
          <p:cNvSpPr/>
          <p:nvPr/>
        </p:nvSpPr>
        <p:spPr>
          <a:xfrm>
            <a:off x="7512367" y="7027307"/>
            <a:ext cx="5404366" cy="545544"/>
          </a:xfrm>
          <a:prstGeom prst="roundRect">
            <a:avLst>
              <a:gd name="adj" fmla="val 4452"/>
            </a:avLst>
          </a:prstGeom>
          <a:solidFill>
            <a:srgbClr val="F2F2F2"/>
          </a:solidFill>
          <a:ln/>
        </p:spPr>
      </p:sp>
      <p:sp>
        <p:nvSpPr>
          <p:cNvPr id="17" name="Text 11"/>
          <p:cNvSpPr/>
          <p:nvPr/>
        </p:nvSpPr>
        <p:spPr>
          <a:xfrm>
            <a:off x="7714655" y="7189113"/>
            <a:ext cx="4999792" cy="221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-k overlays/dev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0324" y="1173956"/>
            <a:ext cx="6264593" cy="647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Vous êtes prêts à déployer !</a:t>
            </a:r>
            <a:endParaRPr lang="en-US" sz="4050" dirty="0"/>
          </a:p>
        </p:txBody>
      </p:sp>
      <p:sp>
        <p:nvSpPr>
          <p:cNvPr id="4" name="Shape 1"/>
          <p:cNvSpPr/>
          <p:nvPr/>
        </p:nvSpPr>
        <p:spPr>
          <a:xfrm>
            <a:off x="690324" y="2078355"/>
            <a:ext cx="7763351" cy="1115735"/>
          </a:xfrm>
          <a:prstGeom prst="roundRect">
            <a:avLst>
              <a:gd name="adj" fmla="val 2652"/>
            </a:avLst>
          </a:prstGeom>
          <a:solidFill>
            <a:srgbClr val="F2EEEE"/>
          </a:solidFill>
          <a:ln/>
        </p:spPr>
      </p:sp>
      <p:sp>
        <p:nvSpPr>
          <p:cNvPr id="5" name="Text 2"/>
          <p:cNvSpPr/>
          <p:nvPr/>
        </p:nvSpPr>
        <p:spPr>
          <a:xfrm>
            <a:off x="887492" y="2275523"/>
            <a:ext cx="2588776" cy="323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🐳</a:t>
            </a:r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Docker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87492" y="2701885"/>
            <a:ext cx="7369016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Images, containers, volumes — les briques fondamentales de la containerisation.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90324" y="3365540"/>
            <a:ext cx="7763351" cy="1115735"/>
          </a:xfrm>
          <a:prstGeom prst="roundRect">
            <a:avLst>
              <a:gd name="adj" fmla="val 2652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887492" y="3562707"/>
            <a:ext cx="2588776" cy="323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☸️</a:t>
            </a:r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Kubernetes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87492" y="3989070"/>
            <a:ext cx="7369016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Pods, Nodes, Services, Ingress — l'orchestration à grande échelle.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90324" y="4652724"/>
            <a:ext cx="7763351" cy="1115735"/>
          </a:xfrm>
          <a:prstGeom prst="roundRect">
            <a:avLst>
              <a:gd name="adj" fmla="val 2652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887492" y="4849892"/>
            <a:ext cx="2588776" cy="323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📄</a:t>
            </a:r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YAML + Kustomize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87492" y="5276255"/>
            <a:ext cx="7369016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 manifestes clairs, des environnements propres, sans duplication.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90324" y="5939909"/>
            <a:ext cx="7763351" cy="1115735"/>
          </a:xfrm>
          <a:prstGeom prst="roundRect">
            <a:avLst>
              <a:gd name="adj" fmla="val 2652"/>
            </a:avLst>
          </a:prstGeom>
          <a:solidFill>
            <a:srgbClr val="F2EEEE"/>
          </a:solidFill>
          <a:ln/>
        </p:spPr>
      </p:sp>
      <p:sp>
        <p:nvSpPr>
          <p:cNvPr id="14" name="Text 11"/>
          <p:cNvSpPr/>
          <p:nvPr/>
        </p:nvSpPr>
        <p:spPr>
          <a:xfrm>
            <a:off x="887492" y="6137077"/>
            <a:ext cx="2815471" cy="323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🚀</a:t>
            </a:r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Premier déploiement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87492" y="6563439"/>
            <a:ext cx="7369016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Nginx from scratch avec une structure base/overlays professionnelle.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2026-03-26T17:52:07Z</dcterms:created>
  <dcterms:modified xsi:type="dcterms:W3CDTF">2026-03-26T17:52:07Z</dcterms:modified>
</cp:coreProperties>
</file>