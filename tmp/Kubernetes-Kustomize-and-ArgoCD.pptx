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T Serif"/>
      <p:regular r:id="rId17"/>
    </p:embeddedFont>
    <p:embeddedFont>
      <p:font typeface="PT Serif"/>
      <p:regular r:id="rId18"/>
    </p:embeddedFont>
    <p:embeddedFont>
      <p:font typeface="PT Serif"/>
      <p:regular r:id="rId19"/>
    </p:embeddedFont>
    <p:embeddedFont>
      <p:font typeface="PT Serif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07788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Kubernetes, Kustomize &amp; ArgoCD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13646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parcours complet pour maîtriser l'orchestration de conteneurs, la gestion des déploiements par environnement et l'automatisation GitOps — de la théorie aux travaux pratiques.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87948"/>
            <a:ext cx="2028230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5555933"/>
            <a:ext cx="175605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FORMATION DEVOPS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21767" y="5480328"/>
            <a:ext cx="2235756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65475" y="5555933"/>
            <a:ext cx="194833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INTERMÉDIAIRE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1793" y="507325"/>
            <a:ext cx="990243" cy="335875"/>
          </a:xfrm>
          <a:prstGeom prst="roundRect">
            <a:avLst>
              <a:gd name="adj" fmla="val 6528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8951" y="569714"/>
            <a:ext cx="755928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CHAPITRE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11793" y="902018"/>
            <a:ext cx="6248043" cy="59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Kubernetes — Fondamentaux</a:t>
            </a:r>
            <a:endParaRPr lang="en-US" sz="3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93" y="1887736"/>
            <a:ext cx="8038267" cy="44863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03450" y="3386971"/>
            <a:ext cx="2644021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Architecture d'un cluster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503450" y="3833813"/>
            <a:ext cx="4122539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cluster Kubernetes regroupe des nœuds (VMs ou machines physiques) orchestrés automatiquement : placement, scaling et re-déploiement des conteneurs.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11793" y="6705124"/>
            <a:ext cx="6229707" cy="1017151"/>
          </a:xfrm>
          <a:prstGeom prst="roundRect">
            <a:avLst>
              <a:gd name="adj" fmla="val 2694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1194435" y="6887766"/>
            <a:ext cx="2397919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Control Plane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194435" y="7275671"/>
            <a:ext cx="586442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server, etcd, scheduler, controller manager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88662" y="6705124"/>
            <a:ext cx="6229826" cy="1017151"/>
          </a:xfrm>
          <a:prstGeom prst="roundRect">
            <a:avLst>
              <a:gd name="adj" fmla="val 2694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7571303" y="6887766"/>
            <a:ext cx="2397919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Worker Nodes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571303" y="7275671"/>
            <a:ext cx="586454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kubelet, kube-proxy, conteneurs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236" y="1027628"/>
            <a:ext cx="8685014" cy="6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Ressources Kubernetes essentielles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2236" y="2120146"/>
            <a:ext cx="424101" cy="4241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2236" y="2792135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Namespace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42236" y="3258979"/>
            <a:ext cx="6449020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Isole les environnements (dev, staging, prod) dans un même cluster. Chaque ressource appartient à un namespace.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2120146"/>
            <a:ext cx="424101" cy="4241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9144" y="2792135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Pod &amp; Container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439144" y="3258979"/>
            <a:ext cx="6449020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Plus petite unité déployable. Un Pod regroupe un ou plusieurs conteneurs partageant le même réseau et les mêmes volumes.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236" y="4312087"/>
            <a:ext cx="424101" cy="4241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236" y="4984075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42236" y="5450919"/>
            <a:ext cx="6449020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Gère plusieurs Pods identiques avec mises à jour progressives et rollbacks automatiques.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4312087"/>
            <a:ext cx="424101" cy="4241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9144" y="4984075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Service &amp; Ingress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439144" y="5450919"/>
            <a:ext cx="6449020" cy="65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Service expose les Pods (ClusterIP, NodePort, LoadBalancer). Ingress route le trafic HTTP(S) avec support TLS.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742236" y="6330434"/>
            <a:ext cx="13145929" cy="871538"/>
          </a:xfrm>
          <a:prstGeom prst="roundRect">
            <a:avLst>
              <a:gd name="adj" fmla="val 3650"/>
            </a:avLst>
          </a:prstGeom>
          <a:solidFill>
            <a:srgbClr val="FFCDB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286" y="6646069"/>
            <a:ext cx="265033" cy="2120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31369" y="6581656"/>
            <a:ext cx="12244745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Commandes clés :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dev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6509" y="1180148"/>
            <a:ext cx="1039892" cy="340400"/>
          </a:xfrm>
          <a:prstGeom prst="roundRect">
            <a:avLst>
              <a:gd name="adj" fmla="val 6513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4977" y="1243132"/>
            <a:ext cx="802958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CHAPITRE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6509" y="1580674"/>
            <a:ext cx="7850981" cy="1212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Kustomize — Gérer les déploiements par environnement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6509" y="3018592"/>
            <a:ext cx="7850981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Kustomize élimine la duplication YAML grâce au principe </a:t>
            </a:r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+ overlays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: une base commune valide pour tous les environnements, personnalisée par des patches ciblés.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09" y="3724037"/>
            <a:ext cx="923687" cy="1108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20572" y="3908703"/>
            <a:ext cx="2424708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Base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720572" y="4302085"/>
            <a:ext cx="6776918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Deployment, Service, ConfigMap — définition commune partagée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09" y="4832509"/>
            <a:ext cx="923687" cy="1108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20572" y="5017175"/>
            <a:ext cx="2424708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Overlays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720572" y="5410557"/>
            <a:ext cx="6776918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Patches par env : dev (1 réplica), staging, prod (3 réplicas)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09" y="5940981"/>
            <a:ext cx="923687" cy="1108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20572" y="6125647"/>
            <a:ext cx="2424708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Build &amp; Apply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720572" y="6519029"/>
            <a:ext cx="677691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kustomize build overlays/prod | kubectl apply -f -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514" y="776168"/>
            <a:ext cx="8925044" cy="638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Arborescence Kustomize recommandée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1258" y="1665803"/>
            <a:ext cx="6676668" cy="5787509"/>
          </a:xfrm>
          <a:prstGeom prst="roundRect">
            <a:avLst>
              <a:gd name="adj" fmla="val 505"/>
            </a:avLst>
          </a:prstGeom>
          <a:solidFill>
            <a:srgbClr val="E04F00"/>
          </a:solidFill>
          <a:ln/>
        </p:spPr>
      </p:sp>
      <p:sp>
        <p:nvSpPr>
          <p:cNvPr id="4" name="Text 2"/>
          <p:cNvSpPr/>
          <p:nvPr/>
        </p:nvSpPr>
        <p:spPr>
          <a:xfrm>
            <a:off x="735925" y="1832967"/>
            <a:ext cx="2555796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Structure Git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5925" y="2340412"/>
            <a:ext cx="6287333" cy="4924901"/>
          </a:xfrm>
          <a:prstGeom prst="roundRect">
            <a:avLst>
              <a:gd name="adj" fmla="val 593"/>
            </a:avLst>
          </a:prstGeom>
          <a:solidFill>
            <a:srgbClr val="ED5C0D"/>
          </a:solidFill>
          <a:ln/>
        </p:spPr>
      </p:sp>
      <p:sp>
        <p:nvSpPr>
          <p:cNvPr id="6" name="Shape 4"/>
          <p:cNvSpPr/>
          <p:nvPr/>
        </p:nvSpPr>
        <p:spPr>
          <a:xfrm>
            <a:off x="726281" y="2340412"/>
            <a:ext cx="6306622" cy="4924901"/>
          </a:xfrm>
          <a:prstGeom prst="roundRect">
            <a:avLst>
              <a:gd name="adj" fmla="val 593"/>
            </a:avLst>
          </a:prstGeom>
          <a:solidFill>
            <a:srgbClr val="ED5C0D"/>
          </a:solidFill>
          <a:ln/>
        </p:spPr>
      </p:sp>
      <p:sp>
        <p:nvSpPr>
          <p:cNvPr id="7" name="Text 5"/>
          <p:cNvSpPr/>
          <p:nvPr/>
        </p:nvSpPr>
        <p:spPr>
          <a:xfrm>
            <a:off x="920948" y="2486382"/>
            <a:ext cx="5917287" cy="463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k8s/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base/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deployment.yaml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service.yaml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kustomization.yaml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overlays/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dev/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kustomization.yaml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patch.yaml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staging/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prod/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kustomization.yaml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patch.yaml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namespaces/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dev.yaml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prod.yaml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60350" y="1832967"/>
            <a:ext cx="4153733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Champs clés du </a:t>
            </a:r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kustomization.yaml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560350" y="2340412"/>
            <a:ext cx="3114437" cy="1820228"/>
          </a:xfrm>
          <a:prstGeom prst="roundRect">
            <a:avLst>
              <a:gd name="adj" fmla="val 602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37490" y="2340412"/>
            <a:ext cx="91440" cy="1820228"/>
          </a:xfrm>
          <a:prstGeom prst="roundRect">
            <a:avLst>
              <a:gd name="adj" fmla="val 31944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846457" y="2557939"/>
            <a:ext cx="2555796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resources: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846457" y="3044547"/>
            <a:ext cx="2610803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 les fichiers sources à inclure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841950" y="2340412"/>
            <a:ext cx="3114556" cy="1820228"/>
          </a:xfrm>
          <a:prstGeom prst="roundRect">
            <a:avLst>
              <a:gd name="adj" fmla="val 602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19090" y="2340412"/>
            <a:ext cx="91440" cy="1820228"/>
          </a:xfrm>
          <a:prstGeom prst="roundRect">
            <a:avLst>
              <a:gd name="adj" fmla="val 31944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1128058" y="2557939"/>
            <a:ext cx="2610922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patchesStrategicMerge: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128058" y="3363992"/>
            <a:ext cx="2610922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Patches de fusion (réplicas, ressources, labels)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60350" y="4327803"/>
            <a:ext cx="3114437" cy="2109787"/>
          </a:xfrm>
          <a:prstGeom prst="roundRect">
            <a:avLst>
              <a:gd name="adj" fmla="val 52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37490" y="4327803"/>
            <a:ext cx="91440" cy="2109787"/>
          </a:xfrm>
          <a:prstGeom prst="roundRect">
            <a:avLst>
              <a:gd name="adj" fmla="val 31944"/>
            </a:avLst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846457" y="4545330"/>
            <a:ext cx="2610803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configMapGenerator: / secretGenerator: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46457" y="5351383"/>
            <a:ext cx="26108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Génère automatiquement ConfigMaps et Secrets par env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841950" y="4327803"/>
            <a:ext cx="3114556" cy="2109787"/>
          </a:xfrm>
          <a:prstGeom prst="roundRect">
            <a:avLst>
              <a:gd name="adj" fmla="val 52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19090" y="4327803"/>
            <a:ext cx="91440" cy="2109787"/>
          </a:xfrm>
          <a:prstGeom prst="roundRect">
            <a:avLst>
              <a:gd name="adj" fmla="val 31944"/>
            </a:avLst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11128058" y="4545330"/>
            <a:ext cx="2555796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images: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128058" y="5031938"/>
            <a:ext cx="2610922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Surchage le tag d'image par environnement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0784" y="814626"/>
            <a:ext cx="1261229" cy="434697"/>
          </a:xfrm>
          <a:prstGeom prst="roundRect">
            <a:avLst>
              <a:gd name="adj" fmla="val 6187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12825" y="889397"/>
            <a:ext cx="977146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CHAPITRE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70784" y="1337905"/>
            <a:ext cx="7575233" cy="147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4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ArgoCD — GitOps en pratique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270784" y="3140750"/>
            <a:ext cx="7575233" cy="10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Avec ArgoCD,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 devient la source de vérité unique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ArgoCD observe le dépôt, détecte les dérives et synchronise automatiquement l'état réel du cluster avec l'état déclaré.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70784" y="4458891"/>
            <a:ext cx="7575233" cy="2955965"/>
          </a:xfrm>
          <a:prstGeom prst="roundRect">
            <a:avLst>
              <a:gd name="adj" fmla="val 1137"/>
            </a:avLst>
          </a:prstGeom>
          <a:solidFill>
            <a:srgbClr val="F2EEEE"/>
          </a:solidFill>
          <a:ln/>
        </p:spPr>
      </p:sp>
      <p:sp>
        <p:nvSpPr>
          <p:cNvPr id="8" name="Shape 5"/>
          <p:cNvSpPr/>
          <p:nvPr/>
        </p:nvSpPr>
        <p:spPr>
          <a:xfrm>
            <a:off x="6270784" y="4458891"/>
            <a:ext cx="3787616" cy="1656159"/>
          </a:xfrm>
          <a:prstGeom prst="roundRect">
            <a:avLst>
              <a:gd name="adj" fmla="val 2030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4680347"/>
            <a:ext cx="2941677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Repo Git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492240" y="5180886"/>
            <a:ext cx="3012519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Manifests Kubernetes versionnés (GitHub / GitLab)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10058400" y="4458891"/>
            <a:ext cx="3787616" cy="165615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10058400" y="4458891"/>
            <a:ext cx="30480" cy="1656159"/>
          </a:xfrm>
          <a:prstGeom prst="roundRect">
            <a:avLst>
              <a:gd name="adj" fmla="val 110300"/>
            </a:avLst>
          </a:prstGeom>
          <a:solidFill>
            <a:srgbClr val="D8D4D4"/>
          </a:solidFill>
          <a:ln/>
        </p:spPr>
      </p:sp>
      <p:sp>
        <p:nvSpPr>
          <p:cNvPr id="13" name="Text 10"/>
          <p:cNvSpPr/>
          <p:nvPr/>
        </p:nvSpPr>
        <p:spPr>
          <a:xfrm>
            <a:off x="10612041" y="4680347"/>
            <a:ext cx="2941677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ArgoCD Controller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0612041" y="5180886"/>
            <a:ext cx="3012519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 et détecte les dérives en continu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9778246" y="5006816"/>
            <a:ext cx="560308" cy="5603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8263" y="5146834"/>
            <a:ext cx="280154" cy="28015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70784" y="6115050"/>
            <a:ext cx="7575233" cy="129980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8" name="Shape 14"/>
          <p:cNvSpPr/>
          <p:nvPr/>
        </p:nvSpPr>
        <p:spPr>
          <a:xfrm>
            <a:off x="6270784" y="6115050"/>
            <a:ext cx="7575233" cy="30480"/>
          </a:xfrm>
          <a:prstGeom prst="roundRect">
            <a:avLst>
              <a:gd name="adj" fmla="val 110300"/>
            </a:avLst>
          </a:prstGeom>
          <a:solidFill>
            <a:srgbClr val="D8D4D4"/>
          </a:solidFill>
          <a:ln/>
        </p:spPr>
      </p:sp>
      <p:sp>
        <p:nvSpPr>
          <p:cNvPr id="19" name="Text 15"/>
          <p:cNvSpPr/>
          <p:nvPr/>
        </p:nvSpPr>
        <p:spPr>
          <a:xfrm>
            <a:off x="6492240" y="6336506"/>
            <a:ext cx="2941677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Sync automatique</a:t>
            </a:r>
            <a:endParaRPr lang="en-US" sz="2300" dirty="0"/>
          </a:p>
        </p:txBody>
      </p:sp>
      <p:sp>
        <p:nvSpPr>
          <p:cNvPr id="20" name="Text 16"/>
          <p:cNvSpPr/>
          <p:nvPr/>
        </p:nvSpPr>
        <p:spPr>
          <a:xfrm>
            <a:off x="6492240" y="6837045"/>
            <a:ext cx="6800136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Applique les changements sur le cluster cible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115" y="875705"/>
            <a:ext cx="8136731" cy="686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Déclarer une Application ArgoCD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32115" y="2044303"/>
            <a:ext cx="3365421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Définition CRD </a:t>
            </a:r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732115" y="2604492"/>
            <a:ext cx="470654" cy="47065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02660" y="2633841"/>
            <a:ext cx="329446" cy="411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95651" y="2676287"/>
            <a:ext cx="2745700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Source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395651" y="3212306"/>
            <a:ext cx="3612833" cy="6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URL du repo Git + chemin du manifest (ex. 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k8s/overlays/prod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2115" y="4248983"/>
            <a:ext cx="470654" cy="47065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802660" y="4278332"/>
            <a:ext cx="329446" cy="411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95651" y="4320778"/>
            <a:ext cx="2745700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Destination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395651" y="4856798"/>
            <a:ext cx="3612833" cy="64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cible + namespace de déploiement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2115" y="5885855"/>
            <a:ext cx="470654" cy="47065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802660" y="5915204"/>
            <a:ext cx="329446" cy="411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395651" y="5957649"/>
            <a:ext cx="2745700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Sync Policy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1395651" y="6493669"/>
            <a:ext cx="3612833" cy="64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(contrôle humain) ou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Auto-sync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(déploiement continu)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6405" y="2264212"/>
            <a:ext cx="8379381" cy="4676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1387"/>
            <a:ext cx="9448086" cy="74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Configurations avancées à maîtriser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0932" y="1813084"/>
            <a:ext cx="6411635" cy="2793563"/>
          </a:xfrm>
          <a:prstGeom prst="roundRect">
            <a:avLst>
              <a:gd name="adj" fmla="val 121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1412" y="1843564"/>
            <a:ext cx="6350675" cy="6779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7264" y="2012990"/>
            <a:ext cx="338971" cy="3389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393" y="2746653"/>
            <a:ext cx="2966085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47393" y="3252311"/>
            <a:ext cx="589871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Réplicas, liveness/readiness probes, limites CPU/RAM. Personnalisation par env via 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patchesStrategicMerge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7714" y="1813084"/>
            <a:ext cx="6411754" cy="2793563"/>
          </a:xfrm>
          <a:prstGeom prst="roundRect">
            <a:avLst>
              <a:gd name="adj" fmla="val 121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58194" y="1843564"/>
            <a:ext cx="6350794" cy="6779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4046" y="2012990"/>
            <a:ext cx="338971" cy="3389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4175" y="2746653"/>
            <a:ext cx="2966085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ConfigMap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7684175" y="3252311"/>
            <a:ext cx="5898832" cy="109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Externalise la config (env vars, fichiers). Utilisez 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configMapGenerator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dans Kustomize pour générer un ConfigMap par environnement.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0932" y="4831794"/>
            <a:ext cx="6411635" cy="2778323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1412" y="4862274"/>
            <a:ext cx="6350675" cy="6779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7264" y="5031700"/>
            <a:ext cx="338971" cy="3389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7393" y="5765363"/>
            <a:ext cx="2966085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Secret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1047393" y="6271022"/>
            <a:ext cx="5898713" cy="1082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 jamais stocker en clair dans Git. Privilegiez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Sealed Secrets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ou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Vault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Montez en volume ou en variables d'environnement.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7714" y="4831794"/>
            <a:ext cx="6411754" cy="2778323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58194" y="4862274"/>
            <a:ext cx="6350794" cy="6779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64046" y="5031700"/>
            <a:ext cx="338971" cy="3389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4175" y="5765363"/>
            <a:ext cx="2966085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NetworkPolicy</a:t>
            </a:r>
            <a:endParaRPr lang="en-US" sz="2300" dirty="0"/>
          </a:p>
        </p:txBody>
      </p:sp>
      <p:sp>
        <p:nvSpPr>
          <p:cNvPr id="22" name="Text 16"/>
          <p:cNvSpPr/>
          <p:nvPr/>
        </p:nvSpPr>
        <p:spPr>
          <a:xfrm>
            <a:off x="7684175" y="6271022"/>
            <a:ext cx="5898832" cy="1082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Contrôle le trafic entre Pods via des sélecteurs de labels. Limitez le trafic entrant vers vos APIs et frontends.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74" y="508873"/>
            <a:ext cx="7711083" cy="595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Travaux pratiques — Vue d'ensemble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74" y="1395532"/>
            <a:ext cx="12530852" cy="563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37374" y="1648366"/>
            <a:ext cx="2192867" cy="355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TP1 Pod nginx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937374" y="2100570"/>
            <a:ext cx="2192867" cy="48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Créer un Pod nginx avec kubectl apply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6974" y="3165940"/>
            <a:ext cx="485714" cy="4857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06143" y="5877466"/>
            <a:ext cx="2204916" cy="355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TP2 Kustomize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106143" y="6329670"/>
            <a:ext cx="2204916" cy="48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Déployer Deployment et Service de base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5744" y="4937101"/>
            <a:ext cx="485714" cy="4857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50815" y="1606196"/>
            <a:ext cx="2192867" cy="355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TP3 Overlays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250815" y="2058399"/>
            <a:ext cx="2192867" cy="48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Ajouter overlays dev et prod avec réplicas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46561" y="3117745"/>
            <a:ext cx="485714" cy="4857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19584" y="5877466"/>
            <a:ext cx="2192866" cy="355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TP4 ArgoCD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419584" y="6329670"/>
            <a:ext cx="2192866" cy="48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Installer ArgoCD et accéder à l'UI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79185" y="4937101"/>
            <a:ext cx="485714" cy="4857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49774" y="7197804"/>
            <a:ext cx="12530852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TP est conçu pour être réalisé en autonomie, en s'appuyant sur un dépôt Git dédié. Les exercices s'enchaînent de manière progressive, du cluster nu jusqu'au pipeline GitOps complet.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1137" y="659487"/>
            <a:ext cx="7634526" cy="141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Récapitulatif &amp; prochaines étapes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1137" y="2381845"/>
            <a:ext cx="3714750" cy="1932623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456759" y="2597468"/>
            <a:ext cx="2830354" cy="368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🧱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Kubernetes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56759" y="3089434"/>
            <a:ext cx="3283506" cy="100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Cluster, Pods, Deployments, Services, Ingress — les briques fondamentales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0794" y="2381845"/>
            <a:ext cx="3714869" cy="1932623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0376416" y="2597468"/>
            <a:ext cx="2830354" cy="368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🗂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Kustomize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76416" y="3089434"/>
            <a:ext cx="3283625" cy="100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+ overlays, patches stratégiques, ConfigMaps et Secrets par environnement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41137" y="4519374"/>
            <a:ext cx="7634526" cy="125968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456759" y="4734997"/>
            <a:ext cx="2830354" cy="368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🔄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ArgoCD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56759" y="5226963"/>
            <a:ext cx="7203281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GitOps, synchronisation automatique, diff view, CRD Application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41137" y="6009680"/>
            <a:ext cx="7634526" cy="1560314"/>
          </a:xfrm>
          <a:prstGeom prst="roundRect">
            <a:avLst>
              <a:gd name="adj" fmla="val 2073"/>
            </a:avLst>
          </a:prstGeom>
          <a:solidFill>
            <a:srgbClr val="FFCDB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759" y="6326624"/>
            <a:ext cx="269558" cy="21562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1939" y="6268403"/>
            <a:ext cx="6718102" cy="100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Pour aller plus loin :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Helm Charts, Kyverno (policies), Prometheus/Grafana (observabilité), Crossplane (infrastructure as code).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2026-03-20T13:23:40Z</dcterms:created>
  <dcterms:modified xsi:type="dcterms:W3CDTF">2026-03-20T13:23:40Z</dcterms:modified>
</cp:coreProperties>
</file>